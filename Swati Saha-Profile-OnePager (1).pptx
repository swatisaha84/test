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4"/>
    <p:sldMasterId id="2147483785" r:id="rId5"/>
    <p:sldMasterId id="2147483886" r:id="rId6"/>
  </p:sldMasterIdLst>
  <p:notesMasterIdLst>
    <p:notesMasterId r:id="rId8"/>
  </p:notesMasterIdLst>
  <p:sldIdLst>
    <p:sldId id="214747210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9CA03D-BB54-DDDF-CA8D-9B90E82A2CAF}" name="Kotteeswaran Lakshmanan" initials="KL" userId="S::139246@TCS.com::30eb454d-5e7d-4d0a-b45d-5c4be9ff64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D6713A-457B-09E9-53B3-5F3C524BB10F}" v="133" dt="2025-06-30T06:59:50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096BE-19A9-4AC3-9759-A17D8FF72CE9}" type="datetimeFigureOut">
              <a:t>6/29/2025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3A118-97BB-43C1-8231-2955C55A34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21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799083-8EC3-45F9-B139-553F8C3E0F96}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26264B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4748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678FCB-96EE-46D7-A045-549D5EEA0E12}"/>
              </a:ext>
            </a:extLst>
          </p:cNvPr>
          <p:cNvSpPr/>
          <p:nvPr userDrawn="1"/>
        </p:nvSpPr>
        <p:spPr>
          <a:xfrm>
            <a:off x="5943596" y="-1"/>
            <a:ext cx="6248401" cy="6858000"/>
          </a:xfrm>
          <a:prstGeom prst="rect">
            <a:avLst/>
          </a:prstGeom>
          <a:solidFill>
            <a:srgbClr val="26264B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6BF04C-68EA-4ABA-92D7-963546228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975361"/>
            <a:ext cx="12192000" cy="5882640"/>
          </a:xfrm>
          <a:prstGeom prst="rect">
            <a:avLst/>
          </a:prstGeom>
        </p:spPr>
      </p:pic>
      <p:pic>
        <p:nvPicPr>
          <p:cNvPr id="2" name="Picture 2" descr="HSN and QVC Go Back to Their Livestream Roots to Boost Market Share">
            <a:extLst>
              <a:ext uri="{FF2B5EF4-FFF2-40B4-BE49-F238E27FC236}">
                <a16:creationId xmlns:a16="http://schemas.microsoft.com/office/drawing/2014/main" id="{C92010BD-DD46-FCFC-9D54-F04262F92B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DC794F-69CF-401A-9857-406000E5170B}"/>
              </a:ext>
            </a:extLst>
          </p:cNvPr>
          <p:cNvSpPr/>
          <p:nvPr userDrawn="1"/>
        </p:nvSpPr>
        <p:spPr>
          <a:xfrm>
            <a:off x="6096000" y="-5340"/>
            <a:ext cx="6095996" cy="6830683"/>
          </a:xfrm>
          <a:prstGeom prst="rect">
            <a:avLst/>
          </a:prstGeom>
          <a:solidFill>
            <a:srgbClr val="26264B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23EC-F8CB-AD40-1BD8-2A2CC3025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CC62E-D012-125B-BB04-859EC836A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1860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3278-9F9B-FC7F-33DB-A0FA9DA8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91" y="109331"/>
            <a:ext cx="11734800" cy="685800"/>
          </a:xfrm>
        </p:spPr>
        <p:txBody>
          <a:bodyPr anchor="ctr"/>
          <a:lstStyle>
            <a:lvl1pPr>
              <a:defRPr sz="2800" b="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05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6">
            <a:extLst>
              <a:ext uri="{FF2B5EF4-FFF2-40B4-BE49-F238E27FC236}">
                <a16:creationId xmlns:a16="http://schemas.microsoft.com/office/drawing/2014/main" id="{27E1315B-68E3-4ED4-838C-A393F3DD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43885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82E5CC4A-21D9-474F-B0D3-0CBAA1F88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282" y="1119911"/>
            <a:ext cx="10514927" cy="435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426E87-4BAD-1EF5-0D74-18EE0E370EA5}"/>
              </a:ext>
            </a:extLst>
          </p:cNvPr>
          <p:cNvSpPr/>
          <p:nvPr userDrawn="1"/>
        </p:nvSpPr>
        <p:spPr>
          <a:xfrm>
            <a:off x="336551" y="772677"/>
            <a:ext cx="1123576" cy="65523"/>
          </a:xfrm>
          <a:prstGeom prst="roundRect">
            <a:avLst>
              <a:gd name="adj" fmla="val 50000"/>
            </a:avLst>
          </a:prstGeom>
          <a:solidFill>
            <a:srgbClr val="323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135E5D9-9BD8-0F16-6D95-EF68F853E5F7}"/>
              </a:ext>
            </a:extLst>
          </p:cNvPr>
          <p:cNvGrpSpPr/>
          <p:nvPr userDrawn="1"/>
        </p:nvGrpSpPr>
        <p:grpSpPr>
          <a:xfrm>
            <a:off x="11430000" y="152400"/>
            <a:ext cx="685800" cy="375828"/>
            <a:chOff x="11430000" y="152400"/>
            <a:chExt cx="685800" cy="375828"/>
          </a:xfrm>
        </p:grpSpPr>
        <p:pic>
          <p:nvPicPr>
            <p:cNvPr id="7" name="Picture 6" descr="Logo&#10;&#10;Description automatically generated">
              <a:extLst>
                <a:ext uri="{FF2B5EF4-FFF2-40B4-BE49-F238E27FC236}">
                  <a16:creationId xmlns:a16="http://schemas.microsoft.com/office/drawing/2014/main" id="{21365986-92C5-9E25-DF62-4CC3135B1D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5" t="21191" r="51811" b="15708"/>
            <a:stretch/>
          </p:blipFill>
          <p:spPr>
            <a:xfrm>
              <a:off x="11532413" y="152400"/>
              <a:ext cx="583387" cy="375828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F29D8BF-41E9-4930-1FDA-91ADA599A117}"/>
                </a:ext>
              </a:extLst>
            </p:cNvPr>
            <p:cNvCxnSpPr/>
            <p:nvPr userDrawn="1"/>
          </p:nvCxnSpPr>
          <p:spPr>
            <a:xfrm>
              <a:off x="11430000" y="210096"/>
              <a:ext cx="0" cy="228600"/>
            </a:xfrm>
            <a:prstGeom prst="line">
              <a:avLst/>
            </a:prstGeom>
            <a:ln w="31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1DDB87-C7A3-B11C-5450-1C55E2A33955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71">
            <a:extLst>
              <a:ext uri="{FF2B5EF4-FFF2-40B4-BE49-F238E27FC236}">
                <a16:creationId xmlns:a16="http://schemas.microsoft.com/office/drawing/2014/main" id="{FFEBBB29-956D-6826-C453-103C630A9A5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b="1" noProof="0" smtClean="0"/>
              <a:pPr lvl="0"/>
              <a:t>‹#›</a:t>
            </a:fld>
            <a:r>
              <a:rPr lang="en-US" sz="933" b="1" noProof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880D9F-02FF-ED6F-DCA9-9711E13117E3}"/>
              </a:ext>
            </a:extLst>
          </p:cNvPr>
          <p:cNvSpPr/>
          <p:nvPr userDrawn="1"/>
        </p:nvSpPr>
        <p:spPr>
          <a:xfrm>
            <a:off x="6095999" y="6590128"/>
            <a:ext cx="2438399" cy="169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900" spc="7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cs typeface="Calibri Light" panose="020F0302020204030204" pitchFamily="34" charset="0"/>
              </a:rPr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78338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</p:sldLayoutIdLst>
  <p:txStyles>
    <p:titleStyle>
      <a:lvl1pPr eaLnBrk="1" hangingPunct="1">
        <a:defRPr lang="en-US" sz="2800" b="0" kern="0" baseline="0" dirty="0">
          <a:solidFill>
            <a:srgbClr val="F03782"/>
          </a:solidFill>
          <a:latin typeface="+mj-lt"/>
          <a:ea typeface="+mj-ea"/>
          <a:cs typeface="+mj-cs"/>
        </a:defRPr>
      </a:lvl1pPr>
    </p:titleStyle>
    <p:bodyStyle>
      <a:lvl1pPr marL="228594" indent="-228594" eaLnBrk="1" hangingPunct="1">
        <a:buClr>
          <a:srgbClr val="F03782"/>
        </a:buClr>
        <a:buFont typeface="Arial" panose="020B0604020202020204" pitchFamily="34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05817" indent="-228594" eaLnBrk="1" hangingPunct="1">
        <a:buClr>
          <a:srgbClr val="F03782"/>
        </a:buClr>
        <a:buFont typeface="Symbol" panose="05050102010706020507" pitchFamily="18" charset="2"/>
        <a:buChar char="-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83039" indent="-228594" eaLnBrk="1" hangingPunct="1">
        <a:buClr>
          <a:srgbClr val="F03782"/>
        </a:buClr>
        <a:buFont typeface="Arial" panose="020B0604020202020204" pitchFamily="34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60261" indent="-228594" eaLnBrk="1" hangingPunct="1">
        <a:buClr>
          <a:srgbClr val="F03782"/>
        </a:buClr>
        <a:buFont typeface="Courier New" panose="02070309020205020404" pitchFamily="49" charset="0"/>
        <a:buChar char="o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37484" indent="-228594" eaLnBrk="1" hangingPunct="1">
        <a:buClr>
          <a:srgbClr val="F03782"/>
        </a:buClr>
        <a:buFont typeface="Arial" panose="020B0604020202020204" pitchFamily="34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386113" eaLnBrk="1" hangingPunct="1">
        <a:defRPr>
          <a:latin typeface="+mn-lt"/>
          <a:ea typeface="+mn-ea"/>
          <a:cs typeface="+mn-cs"/>
        </a:defRPr>
      </a:lvl6pPr>
      <a:lvl7pPr marL="1663336" eaLnBrk="1" hangingPunct="1">
        <a:defRPr>
          <a:latin typeface="+mn-lt"/>
          <a:ea typeface="+mn-ea"/>
          <a:cs typeface="+mn-cs"/>
        </a:defRPr>
      </a:lvl7pPr>
      <a:lvl8pPr marL="1940557" eaLnBrk="1" hangingPunct="1">
        <a:defRPr>
          <a:latin typeface="+mn-lt"/>
          <a:ea typeface="+mn-ea"/>
          <a:cs typeface="+mn-cs"/>
        </a:defRPr>
      </a:lvl8pPr>
      <a:lvl9pPr marL="2217781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222" eaLnBrk="1" hangingPunct="1">
        <a:defRPr>
          <a:latin typeface="+mn-lt"/>
          <a:ea typeface="+mn-ea"/>
          <a:cs typeface="+mn-cs"/>
        </a:defRPr>
      </a:lvl2pPr>
      <a:lvl3pPr marL="554445" eaLnBrk="1" hangingPunct="1">
        <a:defRPr>
          <a:latin typeface="+mn-lt"/>
          <a:ea typeface="+mn-ea"/>
          <a:cs typeface="+mn-cs"/>
        </a:defRPr>
      </a:lvl3pPr>
      <a:lvl4pPr marL="831667" eaLnBrk="1" hangingPunct="1">
        <a:defRPr>
          <a:latin typeface="+mn-lt"/>
          <a:ea typeface="+mn-ea"/>
          <a:cs typeface="+mn-cs"/>
        </a:defRPr>
      </a:lvl4pPr>
      <a:lvl5pPr marL="1108890" eaLnBrk="1" hangingPunct="1">
        <a:defRPr>
          <a:latin typeface="+mn-lt"/>
          <a:ea typeface="+mn-ea"/>
          <a:cs typeface="+mn-cs"/>
        </a:defRPr>
      </a:lvl5pPr>
      <a:lvl6pPr marL="1386113" eaLnBrk="1" hangingPunct="1">
        <a:defRPr>
          <a:latin typeface="+mn-lt"/>
          <a:ea typeface="+mn-ea"/>
          <a:cs typeface="+mn-cs"/>
        </a:defRPr>
      </a:lvl6pPr>
      <a:lvl7pPr marL="1663336" eaLnBrk="1" hangingPunct="1">
        <a:defRPr>
          <a:latin typeface="+mn-lt"/>
          <a:ea typeface="+mn-ea"/>
          <a:cs typeface="+mn-cs"/>
        </a:defRPr>
      </a:lvl7pPr>
      <a:lvl8pPr marL="1940557" eaLnBrk="1" hangingPunct="1">
        <a:defRPr>
          <a:latin typeface="+mn-lt"/>
          <a:ea typeface="+mn-ea"/>
          <a:cs typeface="+mn-cs"/>
        </a:defRPr>
      </a:lvl8pPr>
      <a:lvl9pPr marL="2217781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  <p15:guide id="7" pos="17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4E41C23-2A04-440A-A439-8B36022F5942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3" y="143888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30D6D-B7EA-4150-94B2-C963D98EB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554" y="1119911"/>
            <a:ext cx="11430316" cy="435071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28584" lvl="0" indent="-228584">
              <a:buClr>
                <a:srgbClr val="F03782"/>
              </a:buClr>
            </a:pPr>
            <a:r>
              <a:rPr lang="en-US"/>
              <a:t>Click to edit Master text styles</a:t>
            </a:r>
          </a:p>
          <a:p>
            <a:pPr marL="228584" lvl="1" indent="-228584">
              <a:buClr>
                <a:srgbClr val="F03782"/>
              </a:buClr>
            </a:pPr>
            <a:r>
              <a:rPr lang="en-US"/>
              <a:t>Second level</a:t>
            </a:r>
          </a:p>
          <a:p>
            <a:pPr marL="228584" lvl="2" indent="-228584">
              <a:buClr>
                <a:srgbClr val="F03782"/>
              </a:buClr>
            </a:pPr>
            <a:r>
              <a:rPr lang="en-US"/>
              <a:t>Third level</a:t>
            </a:r>
          </a:p>
          <a:p>
            <a:pPr marL="228584" lvl="3" indent="-228584">
              <a:buClr>
                <a:srgbClr val="F03782"/>
              </a:buClr>
            </a:pPr>
            <a:r>
              <a:rPr lang="en-US"/>
              <a:t>Fourth level</a:t>
            </a:r>
          </a:p>
          <a:p>
            <a:pPr marL="228584" lvl="4" indent="-228584">
              <a:buClr>
                <a:srgbClr val="F03782"/>
              </a:buClr>
            </a:pPr>
            <a:r>
              <a:rPr lang="en-US"/>
              <a:t>Fifth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b="1" noProof="0" smtClean="0"/>
              <a:pPr lvl="0"/>
              <a:t>‹#›</a:t>
            </a:fld>
            <a:r>
              <a:rPr lang="en-US" sz="933" b="1" noProof="0"/>
              <a:t>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F403C3-AECA-43E3-B70F-8CE8C20C79F8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AF0D48-F837-443A-B742-FA8AFEE7A4BD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FFEEF-BA33-4360-BE60-2A11102F0184}"/>
              </a:ext>
            </a:extLst>
          </p:cNvPr>
          <p:cNvSpPr/>
          <p:nvPr userDrawn="1"/>
        </p:nvSpPr>
        <p:spPr>
          <a:xfrm>
            <a:off x="49735" y="85017"/>
            <a:ext cx="286816" cy="52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C5D7D6-6EB8-45FD-B348-83B28F5040C0}"/>
              </a:ext>
            </a:extLst>
          </p:cNvPr>
          <p:cNvSpPr/>
          <p:nvPr userDrawn="1"/>
        </p:nvSpPr>
        <p:spPr>
          <a:xfrm>
            <a:off x="6095999" y="6590128"/>
            <a:ext cx="2438399" cy="169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900" spc="7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cs typeface="Calibri Light" panose="020F0302020204030204" pitchFamily="34" charset="0"/>
              </a:rPr>
              <a:t>TCS CONFIDENTIAL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DC58EC-55D5-470B-F2C5-5879924B571F}"/>
              </a:ext>
            </a:extLst>
          </p:cNvPr>
          <p:cNvSpPr/>
          <p:nvPr userDrawn="1"/>
        </p:nvSpPr>
        <p:spPr>
          <a:xfrm>
            <a:off x="336551" y="772677"/>
            <a:ext cx="1123576" cy="65523"/>
          </a:xfrm>
          <a:prstGeom prst="roundRect">
            <a:avLst>
              <a:gd name="adj" fmla="val 50000"/>
            </a:avLst>
          </a:prstGeom>
          <a:solidFill>
            <a:srgbClr val="323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7E5B18-8460-57DE-D0FA-7E114A098442}"/>
              </a:ext>
            </a:extLst>
          </p:cNvPr>
          <p:cNvGrpSpPr/>
          <p:nvPr userDrawn="1"/>
        </p:nvGrpSpPr>
        <p:grpSpPr>
          <a:xfrm>
            <a:off x="11430000" y="152400"/>
            <a:ext cx="685800" cy="375828"/>
            <a:chOff x="11430000" y="152400"/>
            <a:chExt cx="685800" cy="375828"/>
          </a:xfrm>
        </p:grpSpPr>
        <p:pic>
          <p:nvPicPr>
            <p:cNvPr id="8" name="Picture 7" descr="Logo&#10;&#10;Description automatically generated">
              <a:extLst>
                <a:ext uri="{FF2B5EF4-FFF2-40B4-BE49-F238E27FC236}">
                  <a16:creationId xmlns:a16="http://schemas.microsoft.com/office/drawing/2014/main" id="{6F7864BD-9DA9-44AF-651C-5C5DD7D1940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5" t="21191" r="51811" b="15708"/>
            <a:stretch/>
          </p:blipFill>
          <p:spPr>
            <a:xfrm>
              <a:off x="11532413" y="152400"/>
              <a:ext cx="583387" cy="375828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ED26C15-FBA6-2FA6-1768-833CFACD225E}"/>
                </a:ext>
              </a:extLst>
            </p:cNvPr>
            <p:cNvCxnSpPr/>
            <p:nvPr userDrawn="1"/>
          </p:nvCxnSpPr>
          <p:spPr>
            <a:xfrm>
              <a:off x="11430000" y="210096"/>
              <a:ext cx="0" cy="228600"/>
            </a:xfrm>
            <a:prstGeom prst="line">
              <a:avLst/>
            </a:prstGeom>
            <a:ln w="31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563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hf sldNum="0" hdr="0" dt="0"/>
  <p:txStyles>
    <p:titleStyle>
      <a:lvl1pPr algn="l" defTabSz="121911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rgbClr val="E41165"/>
          </a:solidFill>
          <a:latin typeface="+mj-lt"/>
          <a:ea typeface="+mj-ea"/>
          <a:cs typeface="+mj-cs"/>
        </a:defRPr>
      </a:lvl1pPr>
    </p:titleStyle>
    <p:bodyStyle>
      <a:lvl1pPr marL="304776" indent="-304776" algn="l" defTabSz="1219110" rtl="0" eaLnBrk="1" latinLnBrk="0" hangingPunct="1">
        <a:lnSpc>
          <a:spcPct val="90000"/>
        </a:lnSpc>
        <a:spcBef>
          <a:spcPts val="1333"/>
        </a:spcBef>
        <a:buClr>
          <a:srgbClr val="E41165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914332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E4116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E4116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E4116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E41165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85" userDrawn="1">
          <p15:clr>
            <a:srgbClr val="F26B43"/>
          </p15:clr>
        </p15:guide>
        <p15:guide id="4" orient="horz" pos="557" userDrawn="1">
          <p15:clr>
            <a:srgbClr val="F26B43"/>
          </p15:clr>
        </p15:guide>
        <p15:guide id="5" orient="horz" pos="705" userDrawn="1">
          <p15:clr>
            <a:srgbClr val="F26B43"/>
          </p15:clr>
        </p15:guide>
        <p15:guide id="6" orient="horz" pos="3943" userDrawn="1">
          <p15:clr>
            <a:srgbClr val="F26B43"/>
          </p15:clr>
        </p15:guide>
        <p15:guide id="8" pos="7447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228601"/>
            <a:ext cx="10764078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10764077" cy="48037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AFAE1D-3BDD-E0E7-EF08-35285C8E5021}"/>
              </a:ext>
            </a:extLst>
          </p:cNvPr>
          <p:cNvSpPr/>
          <p:nvPr userDrawn="1"/>
        </p:nvSpPr>
        <p:spPr>
          <a:xfrm>
            <a:off x="336551" y="772677"/>
            <a:ext cx="1123576" cy="65523"/>
          </a:xfrm>
          <a:prstGeom prst="roundRect">
            <a:avLst>
              <a:gd name="adj" fmla="val 50000"/>
            </a:avLst>
          </a:prstGeom>
          <a:solidFill>
            <a:srgbClr val="323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97DA00-356F-1CCB-3EAA-8BFAD0233791}"/>
              </a:ext>
            </a:extLst>
          </p:cNvPr>
          <p:cNvGrpSpPr/>
          <p:nvPr userDrawn="1"/>
        </p:nvGrpSpPr>
        <p:grpSpPr>
          <a:xfrm>
            <a:off x="11430000" y="152400"/>
            <a:ext cx="685800" cy="375828"/>
            <a:chOff x="11430000" y="152400"/>
            <a:chExt cx="685800" cy="375828"/>
          </a:xfrm>
        </p:grpSpPr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4E245EB0-F96A-0A8E-DFA6-78D583ACF4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5" t="21191" r="51811" b="15708"/>
            <a:stretch/>
          </p:blipFill>
          <p:spPr>
            <a:xfrm>
              <a:off x="11532413" y="152400"/>
              <a:ext cx="583387" cy="375828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B4EEE5-3292-5019-E9C4-E2969B50AEC1}"/>
                </a:ext>
              </a:extLst>
            </p:cNvPr>
            <p:cNvCxnSpPr/>
            <p:nvPr userDrawn="1"/>
          </p:nvCxnSpPr>
          <p:spPr>
            <a:xfrm>
              <a:off x="11430000" y="210096"/>
              <a:ext cx="0" cy="228600"/>
            </a:xfrm>
            <a:prstGeom prst="line">
              <a:avLst/>
            </a:prstGeom>
            <a:ln w="31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AD534-9067-387A-B91E-855E6487C218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71">
            <a:extLst>
              <a:ext uri="{FF2B5EF4-FFF2-40B4-BE49-F238E27FC236}">
                <a16:creationId xmlns:a16="http://schemas.microsoft.com/office/drawing/2014/main" id="{DB338000-4312-FAE8-FB43-099ACFD4C88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b="1" noProof="0" smtClean="0"/>
              <a:pPr lvl="0"/>
              <a:t>‹#›</a:t>
            </a:fld>
            <a:r>
              <a:rPr lang="en-US" sz="933" b="1" noProof="0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F3C017-F8A2-A9A9-E976-4EA136DA7360}"/>
              </a:ext>
            </a:extLst>
          </p:cNvPr>
          <p:cNvSpPr/>
          <p:nvPr userDrawn="1"/>
        </p:nvSpPr>
        <p:spPr>
          <a:xfrm>
            <a:off x="6095999" y="6590128"/>
            <a:ext cx="2438399" cy="169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900" spc="7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cs typeface="Calibri Light" panose="020F0302020204030204" pitchFamily="34" charset="0"/>
              </a:rPr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820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</p:sldLayoutIdLst>
  <p:hf hdr="0"/>
  <p:txStyles>
    <p:titleStyle>
      <a:lvl1pPr algn="l" defTabSz="913943" rtl="0" eaLnBrk="1" latinLnBrk="0" hangingPunct="1">
        <a:lnSpc>
          <a:spcPct val="100000"/>
        </a:lnSpc>
        <a:spcBef>
          <a:spcPct val="0"/>
        </a:spcBef>
        <a:buNone/>
        <a:defRPr sz="3000" b="0" i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182880" indent="-182880" algn="l" defTabSz="913943" rtl="0" eaLnBrk="1" latinLnBrk="0" hangingPunct="1">
        <a:lnSpc>
          <a:spcPct val="120000"/>
        </a:lnSpc>
        <a:spcBef>
          <a:spcPts val="600"/>
        </a:spcBef>
        <a:buClr>
          <a:schemeClr val="accent4"/>
        </a:buClr>
        <a:buSzPct val="100000"/>
        <a:buFont typeface="Wingdings" charset="2"/>
        <a:buChar char="§"/>
        <a:defRPr sz="2100" b="0" i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457200" indent="-182880" algn="l" defTabSz="913943" rtl="0" eaLnBrk="1" latinLnBrk="0" hangingPunct="1">
        <a:lnSpc>
          <a:spcPct val="120000"/>
        </a:lnSpc>
        <a:spcBef>
          <a:spcPts val="600"/>
        </a:spcBef>
        <a:buClr>
          <a:schemeClr val="accent4"/>
        </a:buClr>
        <a:buSzPct val="100000"/>
        <a:buFont typeface="Wingdings" charset="2"/>
        <a:buChar char="§"/>
        <a:defRPr sz="2100" b="0" i="0" kern="1200">
          <a:solidFill>
            <a:schemeClr val="tx1"/>
          </a:solidFill>
          <a:latin typeface="Calibri Light" panose="020F0502020204030204" pitchFamily="34" charset="0"/>
          <a:ea typeface="Calibri Light" panose="020F0502020204030204" pitchFamily="34" charset="0"/>
          <a:cs typeface="Calibri Light" panose="020F0502020204030204" pitchFamily="34" charset="0"/>
        </a:defRPr>
      </a:lvl2pPr>
      <a:lvl3pPr marL="731520" indent="-182880" algn="l" defTabSz="913943" rtl="0" eaLnBrk="1" latinLnBrk="0" hangingPunct="1">
        <a:lnSpc>
          <a:spcPct val="120000"/>
        </a:lnSpc>
        <a:spcBef>
          <a:spcPts val="600"/>
        </a:spcBef>
        <a:buClr>
          <a:schemeClr val="accent4"/>
        </a:buClr>
        <a:buSzPct val="100000"/>
        <a:buFont typeface="Wingdings" charset="2"/>
        <a:buChar char="§"/>
        <a:defRPr sz="1800" b="0" i="0" kern="1200">
          <a:solidFill>
            <a:schemeClr val="tx1"/>
          </a:solidFill>
          <a:latin typeface="Calibri Light" panose="020F0502020204030204" pitchFamily="34" charset="0"/>
          <a:ea typeface="Calibri Light" panose="020F0502020204030204" pitchFamily="34" charset="0"/>
          <a:cs typeface="Calibri Light" panose="020F0502020204030204" pitchFamily="34" charset="0"/>
        </a:defRPr>
      </a:lvl3pPr>
      <a:lvl4pPr marL="1005840" indent="-182880" algn="l" defTabSz="913943" rtl="0" eaLnBrk="1" latinLnBrk="0" hangingPunct="1">
        <a:lnSpc>
          <a:spcPct val="120000"/>
        </a:lnSpc>
        <a:spcBef>
          <a:spcPts val="600"/>
        </a:spcBef>
        <a:buClr>
          <a:schemeClr val="accent4"/>
        </a:buClr>
        <a:buSzPct val="100000"/>
        <a:buFont typeface="Wingdings" charset="2"/>
        <a:buChar char="§"/>
        <a:defRPr sz="1500" b="0" i="0" kern="1200">
          <a:solidFill>
            <a:schemeClr val="tx1"/>
          </a:solidFill>
          <a:latin typeface="Calibri Light" panose="020F0502020204030204" pitchFamily="34" charset="0"/>
          <a:ea typeface="Calibri Light" panose="020F0502020204030204" pitchFamily="34" charset="0"/>
          <a:cs typeface="Calibri Light" panose="020F0502020204030204" pitchFamily="34" charset="0"/>
        </a:defRPr>
      </a:lvl4pPr>
      <a:lvl5pPr marL="1280160" indent="-182880" algn="l" defTabSz="913943" rtl="0" eaLnBrk="1" latinLnBrk="0" hangingPunct="1">
        <a:lnSpc>
          <a:spcPct val="120000"/>
        </a:lnSpc>
        <a:spcBef>
          <a:spcPts val="600"/>
        </a:spcBef>
        <a:buClr>
          <a:schemeClr val="accent4"/>
        </a:buClr>
        <a:buSzPct val="100000"/>
        <a:buFont typeface="Wingdings" charset="2"/>
        <a:buChar char="§"/>
        <a:defRPr sz="1200" b="0" i="0" kern="1200">
          <a:solidFill>
            <a:schemeClr val="tx1"/>
          </a:solidFill>
          <a:latin typeface="Calibri Light" panose="020F0502020204030204" pitchFamily="34" charset="0"/>
          <a:ea typeface="Calibri Light" panose="020F0502020204030204" pitchFamily="34" charset="0"/>
          <a:cs typeface="Calibri Light" panose="020F0502020204030204" pitchFamily="34" charset="0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7536">
          <p15:clr>
            <a:srgbClr val="F26B43"/>
          </p15:clr>
        </p15:guide>
        <p15:guide id="5" orient="horz" pos="3744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orient="horz" pos="4176">
          <p15:clr>
            <a:srgbClr val="F26B43"/>
          </p15:clr>
        </p15:guide>
        <p15:guide id="9" orient="horz" pos="720">
          <p15:clr>
            <a:srgbClr val="F26B43"/>
          </p15:clr>
        </p15:guide>
        <p15:guide id="11" orient="horz" pos="576">
          <p15:clr>
            <a:srgbClr val="F26B43"/>
          </p15:clr>
        </p15:guide>
        <p15:guide id="12" pos="3840">
          <p15:clr>
            <a:srgbClr val="F26B43"/>
          </p15:clr>
        </p15:guide>
        <p15:guide id="13" pos="3744">
          <p15:clr>
            <a:srgbClr val="F26B43"/>
          </p15:clr>
        </p15:guide>
        <p15:guide id="14" pos="3936">
          <p15:clr>
            <a:srgbClr val="F26B43"/>
          </p15:clr>
        </p15:guide>
        <p15:guide id="15" pos="2040">
          <p15:clr>
            <a:srgbClr val="F26B43"/>
          </p15:clr>
        </p15:guide>
        <p15:guide id="16" pos="1848">
          <p15:clr>
            <a:srgbClr val="F26B43"/>
          </p15:clr>
        </p15:guide>
        <p15:guide id="17" pos="5640">
          <p15:clr>
            <a:srgbClr val="F26B43"/>
          </p15:clr>
        </p15:guide>
        <p15:guide id="18" pos="5832">
          <p15:clr>
            <a:srgbClr val="F26B43"/>
          </p15:clr>
        </p15:guide>
        <p15:guide id="19" pos="240">
          <p15:clr>
            <a:srgbClr val="F26B43"/>
          </p15:clr>
        </p15:guide>
        <p15:guide id="20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49087" y="1545992"/>
            <a:ext cx="4827823" cy="5044136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8" tIns="45684" rIns="91368" bIns="45684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000000"/>
              </a:solidFill>
              <a:latin typeface="Calibri" panose="020F0502020204030204" pitchFamily="34" charset="0"/>
              <a:cs typeface="Arial"/>
            </a:endParaRPr>
          </a:p>
        </p:txBody>
      </p:sp>
      <p:sp>
        <p:nvSpPr>
          <p:cNvPr id="11" name="CustomShape 3">
            <a:extLst>
              <a:ext uri="{FF2B5EF4-FFF2-40B4-BE49-F238E27FC236}">
                <a16:creationId xmlns:a16="http://schemas.microsoft.com/office/drawing/2014/main" id="{90B5E788-3C5C-46BC-94A2-4F8C1C3F600C}"/>
              </a:ext>
            </a:extLst>
          </p:cNvPr>
          <p:cNvSpPr/>
          <p:nvPr/>
        </p:nvSpPr>
        <p:spPr>
          <a:xfrm>
            <a:off x="465384" y="1643270"/>
            <a:ext cx="2949873" cy="3390381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632" tIns="45576" rIns="91632" bIns="45576" anchor="t">
            <a:spAutoFit/>
          </a:bodyPr>
          <a:lstStyle/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Solution Architecting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Technology Architecture Design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Technology Consulting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Digital Transformation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Domain-Open Banking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Consumer Finance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Microservice Based Architecture and Design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Cloud Computing (AWS/AZURE)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Presales and Client Negotiation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Stakeholder Management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Agile &amp; DevOps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Programming Skills( JAVA/J2EE)</a:t>
            </a:r>
            <a:endParaRPr lang="en-US" sz="1400" dirty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285750" lvl="0" indent="-285750" algn="just" rtl="0">
              <a:buFont typeface="Arial"/>
              <a:buChar char="•"/>
            </a:pPr>
            <a:endParaRPr lang="en-US" sz="1400" dirty="0">
              <a:solidFill>
                <a:srgbClr val="000000"/>
              </a:solidFill>
              <a:latin typeface="Calibri"/>
              <a:cs typeface="Arial"/>
            </a:endParaRPr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 flipV="1">
            <a:off x="3825507" y="1358153"/>
            <a:ext cx="0" cy="5246146"/>
          </a:xfrm>
          <a:prstGeom prst="line">
            <a:avLst/>
          </a:prstGeom>
          <a:noFill/>
          <a:ln w="3175" cap="flat" cmpd="sng" algn="ctr">
            <a:solidFill>
              <a:srgbClr val="0063BE"/>
            </a:solidFill>
            <a:prstDash val="solid"/>
          </a:ln>
          <a:effectLst/>
        </p:spPr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6735AB6-3F83-7F05-3F2D-CF5AD8CF7F4F}"/>
              </a:ext>
            </a:extLst>
          </p:cNvPr>
          <p:cNvCxnSpPr>
            <a:cxnSpLocks/>
          </p:cNvCxnSpPr>
          <p:nvPr/>
        </p:nvCxnSpPr>
        <p:spPr>
          <a:xfrm flipV="1">
            <a:off x="349087" y="1616766"/>
            <a:ext cx="0" cy="4814463"/>
          </a:xfrm>
          <a:prstGeom prst="line">
            <a:avLst/>
          </a:prstGeom>
          <a:noFill/>
          <a:ln w="3175" cap="flat" cmpd="sng" algn="ctr">
            <a:solidFill>
              <a:srgbClr val="0063BE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AF2834-DF57-55B8-D7F5-397165F27C83}"/>
              </a:ext>
            </a:extLst>
          </p:cNvPr>
          <p:cNvSpPr txBox="1"/>
          <p:nvPr/>
        </p:nvSpPr>
        <p:spPr>
          <a:xfrm rot="-5400000">
            <a:off x="1006118" y="3869914"/>
            <a:ext cx="5231976" cy="208455"/>
          </a:xfrm>
          <a:prstGeom prst="rect">
            <a:avLst/>
          </a:prstGeom>
          <a:solidFill>
            <a:srgbClr val="336699"/>
          </a:solidFill>
        </p:spPr>
        <p:txBody>
          <a:bodyPr rot="0" spcFirstLastPara="0" vertOverflow="overflow" horzOverflow="overflow" vert="horz" wrap="square" lIns="0" tIns="36576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323264"/>
              </a:buClr>
              <a:buSzPct val="100000"/>
            </a:pPr>
            <a:r>
              <a:rPr lang="en-US" sz="1300" b="1" dirty="0">
                <a:solidFill>
                  <a:schemeClr val="bg1"/>
                </a:solidFill>
                <a:latin typeface="Calibri"/>
                <a:cs typeface="Calibri"/>
              </a:rPr>
              <a:t>Profile 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F26E19-DE57-1717-7DBB-311C5FE74922}"/>
              </a:ext>
            </a:extLst>
          </p:cNvPr>
          <p:cNvSpPr txBox="1"/>
          <p:nvPr/>
        </p:nvSpPr>
        <p:spPr>
          <a:xfrm>
            <a:off x="3980407" y="1545992"/>
            <a:ext cx="7831510" cy="5678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576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 fontAlgn="t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Experienced software professional with more than </a:t>
            </a:r>
            <a:r>
              <a:rPr lang="en-US" sz="1400" b="1" dirty="0">
                <a:solidFill>
                  <a:srgbClr val="000000"/>
                </a:solidFill>
                <a:latin typeface="Calibri"/>
                <a:cs typeface="Arial"/>
              </a:rPr>
              <a:t>18 years </a:t>
            </a: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in the industry, specializing in technology and solution development within the Banking and Financial domain. Expertise includes Open Banking, Digital Banking.</a:t>
            </a:r>
          </a:p>
          <a:p>
            <a:pPr marL="285750" indent="-285750" algn="just" fontAlgn="t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Solution architect for the Open banking strategic initiatives responsible for creating next generation open banking offerings, strategic consulting and co-creation of open banking propositions with customers.</a:t>
            </a:r>
          </a:p>
          <a:p>
            <a:pPr marL="285750" indent="-285750" algn="just" fontAlgn="t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Played Consulting role in Open Banking domain for various geographies including UK, Europe, Australia.</a:t>
            </a:r>
          </a:p>
          <a:p>
            <a:pPr marL="285750" indent="-285750" algn="just" fontAlgn="t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Application architect for Checkout Finance-BNPL solution for major e-commerce player of India.</a:t>
            </a:r>
          </a:p>
          <a:p>
            <a:pPr marL="285750" marR="0" lvl="0" indent="-285750" algn="just" fontAlgn="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Designed Open Banking solution (cloud native Consumer Data Rights platform) for regulatory compliance requirement for a major Australian Credit Union.</a:t>
            </a:r>
          </a:p>
          <a:p>
            <a:pPr marL="285750" indent="-285750" algn="just" fontAlgn="t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Involved in preparing Enterprise Architecture roadmap for one of the largest UK based building societies for their digital transformation journey.</a:t>
            </a:r>
          </a:p>
          <a:p>
            <a:pPr marL="285750" indent="-285750" algn="just" fontAlgn="t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Built strategic and implementation roadmap on Open Banking for a Multi-National Bank operating in Europe.</a:t>
            </a:r>
          </a:p>
          <a:p>
            <a:pPr marL="285750" indent="-285750" algn="just" fontAlgn="t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“Entrepreneur” with experience in setting up BFSI garage as a start-up within TCS.</a:t>
            </a:r>
          </a:p>
          <a:p>
            <a:pPr marL="285750" marR="0" lvl="0" indent="-285750" algn="just" fontAlgn="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Expertise in requirement analysis, system designing as per Microservice architecture principles.  </a:t>
            </a:r>
          </a:p>
          <a:p>
            <a:pPr marL="285750" indent="-285750" algn="just" fontAlgn="t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Strong exposure in DevOps and Agile culture.</a:t>
            </a:r>
          </a:p>
          <a:p>
            <a:pPr marL="285750" marR="0" lvl="0" indent="-285750" algn="just" fontAlgn="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Extensive work experience in Enterprise Content Management.</a:t>
            </a:r>
          </a:p>
          <a:p>
            <a:pPr marL="285750" indent="-285750" algn="just" fontAlgn="t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Mentored team members with clearly outlined vision and goals.</a:t>
            </a:r>
          </a:p>
          <a:p>
            <a:pPr marL="285750" marR="0" lvl="0" indent="-285750" algn="just" fontAlgn="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IT Leader with expertise in managing complex engagements and driving continuous improvements through innovative approaches.</a:t>
            </a:r>
          </a:p>
          <a:p>
            <a:pPr marL="285750" indent="-285750" algn="just" fontAlgn="t">
              <a:buFont typeface="Arial"/>
              <a:buChar char="•"/>
              <a:defRPr/>
            </a:pPr>
            <a:endParaRPr lang="en-US" sz="1400" dirty="0">
              <a:solidFill>
                <a:srgbClr val="000000"/>
              </a:solidFill>
              <a:latin typeface="Calibri"/>
              <a:cs typeface="Arial"/>
            </a:endParaRP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endParaRPr lang="en-US" sz="1400" dirty="0">
              <a:solidFill>
                <a:srgbClr val="000000"/>
              </a:solidFill>
              <a:latin typeface="Calibri"/>
              <a:cs typeface="Arial"/>
            </a:endParaRP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endParaRPr lang="en-US" sz="1400" dirty="0">
              <a:solidFill>
                <a:srgbClr val="323264"/>
              </a:solidFill>
              <a:latin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FAE11-3BC7-AB66-6AED-BC789E21E36D}"/>
              </a:ext>
            </a:extLst>
          </p:cNvPr>
          <p:cNvSpPr txBox="1"/>
          <p:nvPr/>
        </p:nvSpPr>
        <p:spPr>
          <a:xfrm rot="-5400000">
            <a:off x="-1364750" y="3070837"/>
            <a:ext cx="3116599" cy="208455"/>
          </a:xfrm>
          <a:prstGeom prst="rect">
            <a:avLst/>
          </a:prstGeom>
          <a:solidFill>
            <a:srgbClr val="336699"/>
          </a:solidFill>
        </p:spPr>
        <p:txBody>
          <a:bodyPr rot="0" spcFirstLastPara="0" vertOverflow="overflow" horzOverflow="overflow" vert="horz" wrap="square" lIns="0" tIns="36576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323264"/>
              </a:buClr>
              <a:buSzPct val="100000"/>
            </a:pPr>
            <a:r>
              <a:rPr lang="en-US" sz="1300" b="1" dirty="0">
                <a:solidFill>
                  <a:schemeClr val="bg1"/>
                </a:solidFill>
                <a:latin typeface="Calibri"/>
                <a:cs typeface="Calibri"/>
              </a:rPr>
              <a:t>Core Competencies</a:t>
            </a:r>
          </a:p>
        </p:txBody>
      </p:sp>
      <p:pic>
        <p:nvPicPr>
          <p:cNvPr id="22" name="Picture 21" descr="A person wearing glasses and a brown shirt&#10;&#10;Description automatically generated">
            <a:extLst>
              <a:ext uri="{FF2B5EF4-FFF2-40B4-BE49-F238E27FC236}">
                <a16:creationId xmlns:a16="http://schemas.microsoft.com/office/drawing/2014/main" id="{586C0C63-52CD-C6BC-AACD-76D3D57FA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4" y="62807"/>
            <a:ext cx="1354290" cy="14477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826F71-2228-971C-B99D-CA906E626A5A}"/>
              </a:ext>
            </a:extLst>
          </p:cNvPr>
          <p:cNvSpPr txBox="1"/>
          <p:nvPr/>
        </p:nvSpPr>
        <p:spPr>
          <a:xfrm rot="-5400000">
            <a:off x="-699959" y="5657662"/>
            <a:ext cx="1868799" cy="208455"/>
          </a:xfrm>
          <a:prstGeom prst="rect">
            <a:avLst/>
          </a:prstGeom>
          <a:solidFill>
            <a:srgbClr val="336699"/>
          </a:solidFill>
        </p:spPr>
        <p:txBody>
          <a:bodyPr rot="0" spcFirstLastPara="0" vertOverflow="overflow" horzOverflow="overflow" vert="horz" wrap="square" lIns="0" tIns="36576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85000"/>
              </a:lnSpc>
              <a:spcAft>
                <a:spcPts val="600"/>
              </a:spcAft>
              <a:buClr>
                <a:srgbClr val="323264"/>
              </a:buClr>
              <a:buSzPct val="100000"/>
            </a:pPr>
            <a:r>
              <a:rPr lang="en-US" sz="1300" b="1" dirty="0">
                <a:solidFill>
                  <a:schemeClr val="bg1"/>
                </a:solidFill>
                <a:latin typeface="Calibri"/>
                <a:cs typeface="Calibri"/>
              </a:rPr>
              <a:t>Certification</a:t>
            </a:r>
          </a:p>
        </p:txBody>
      </p:sp>
      <p:sp>
        <p:nvSpPr>
          <p:cNvPr id="25" name="CustomShape 3">
            <a:extLst>
              <a:ext uri="{FF2B5EF4-FFF2-40B4-BE49-F238E27FC236}">
                <a16:creationId xmlns:a16="http://schemas.microsoft.com/office/drawing/2014/main" id="{0F8C04FF-11D0-6B90-5FE5-9FAC2ED4B989}"/>
              </a:ext>
            </a:extLst>
          </p:cNvPr>
          <p:cNvSpPr/>
          <p:nvPr/>
        </p:nvSpPr>
        <p:spPr>
          <a:xfrm>
            <a:off x="400398" y="4848148"/>
            <a:ext cx="3480836" cy="1754036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632" tIns="45576" rIns="91632" bIns="45576" anchor="t">
            <a:spAutoFit/>
          </a:bodyPr>
          <a:lstStyle/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The Open Group TOGAF 9 Certified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AWS Solution Architect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Microsoft Azure Fundamentals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Professional Scrum Master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EMC Certified -Content </a:t>
            </a:r>
          </a:p>
          <a:p>
            <a:pPr algn="just" fontAlgn="t">
              <a:spcBef>
                <a:spcPts val="204"/>
              </a:spcBef>
              <a:buSzPct val="100000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       Management Fundamentals </a:t>
            </a:r>
          </a:p>
          <a:p>
            <a:pPr marL="285750" indent="-285750" algn="just" fontAlgn="t">
              <a:spcBef>
                <a:spcPts val="204"/>
              </a:spcBef>
              <a:buSzPct val="100000"/>
              <a:buFont typeface="Arial"/>
              <a:buChar char="•"/>
              <a:tabLst>
                <a:tab pos="407062" algn="l"/>
                <a:tab pos="814123" algn="l"/>
                <a:tab pos="1221185" algn="l"/>
                <a:tab pos="1628246" algn="l"/>
                <a:tab pos="2035307" algn="l"/>
              </a:tabLst>
              <a:defRPr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Arial"/>
              </a:rPr>
              <a:t>Sun Certified </a:t>
            </a:r>
            <a:r>
              <a:rPr lang="en-US" sz="1400">
                <a:solidFill>
                  <a:srgbClr val="000000"/>
                </a:solidFill>
                <a:latin typeface="Calibri"/>
                <a:cs typeface="Arial"/>
              </a:rPr>
              <a:t>Java Professional</a:t>
            </a:r>
            <a:endParaRPr lang="en-US" sz="1400" dirty="0">
              <a:solidFill>
                <a:srgbClr val="000000"/>
              </a:solidFill>
              <a:latin typeface="Calibri"/>
              <a:cs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DF3987B-5AE5-6C71-4AB6-AF5071B83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146" y="44239"/>
            <a:ext cx="4128454" cy="1309486"/>
          </a:xfrm>
          <a:prstGeom prst="rect">
            <a:avLst/>
          </a:prstGeom>
        </p:spPr>
      </p:pic>
      <p:cxnSp>
        <p:nvCxnSpPr>
          <p:cNvPr id="28" name="officeArt object">
            <a:extLst>
              <a:ext uri="{FF2B5EF4-FFF2-40B4-BE49-F238E27FC236}">
                <a16:creationId xmlns:a16="http://schemas.microsoft.com/office/drawing/2014/main" id="{1C44B8DB-5534-0F54-D695-F110122291D9}"/>
              </a:ext>
            </a:extLst>
          </p:cNvPr>
          <p:cNvCxnSpPr/>
          <p:nvPr/>
        </p:nvCxnSpPr>
        <p:spPr>
          <a:xfrm>
            <a:off x="43853" y="411752"/>
            <a:ext cx="0" cy="390525"/>
          </a:xfrm>
          <a:prstGeom prst="line">
            <a:avLst/>
          </a:prstGeom>
          <a:noFill/>
          <a:ln w="9525" cap="flat">
            <a:solidFill>
              <a:srgbClr val="548DD4"/>
            </a:solidFill>
            <a:prstDash val="solid"/>
            <a:round/>
          </a:ln>
          <a:effectLst/>
        </p:spPr>
      </p:cxnSp>
      <p:cxnSp>
        <p:nvCxnSpPr>
          <p:cNvPr id="29" name="officeArt object">
            <a:extLst>
              <a:ext uri="{FF2B5EF4-FFF2-40B4-BE49-F238E27FC236}">
                <a16:creationId xmlns:a16="http://schemas.microsoft.com/office/drawing/2014/main" id="{C18CB640-32DC-0474-740C-FED7C4481B97}"/>
              </a:ext>
            </a:extLst>
          </p:cNvPr>
          <p:cNvCxnSpPr/>
          <p:nvPr/>
        </p:nvCxnSpPr>
        <p:spPr>
          <a:xfrm>
            <a:off x="130213" y="378732"/>
            <a:ext cx="635" cy="423545"/>
          </a:xfrm>
          <a:prstGeom prst="line">
            <a:avLst/>
          </a:prstGeom>
          <a:noFill/>
          <a:ln w="15875" cap="flat">
            <a:solidFill>
              <a:srgbClr val="FFFFFF"/>
            </a:solidFill>
            <a:prstDash val="solid"/>
            <a:round/>
          </a:ln>
          <a:effectLst/>
        </p:spPr>
      </p:cxnSp>
      <p:cxnSp>
        <p:nvCxnSpPr>
          <p:cNvPr id="30" name="officeArt object">
            <a:extLst>
              <a:ext uri="{FF2B5EF4-FFF2-40B4-BE49-F238E27FC236}">
                <a16:creationId xmlns:a16="http://schemas.microsoft.com/office/drawing/2014/main" id="{8FF2EBBB-CB46-C6FF-12A1-B722E471B2FE}"/>
              </a:ext>
            </a:extLst>
          </p:cNvPr>
          <p:cNvCxnSpPr/>
          <p:nvPr/>
        </p:nvCxnSpPr>
        <p:spPr>
          <a:xfrm>
            <a:off x="224828" y="411752"/>
            <a:ext cx="635" cy="390525"/>
          </a:xfrm>
          <a:prstGeom prst="line">
            <a:avLst/>
          </a:prstGeom>
          <a:noFill/>
          <a:ln w="25400" cap="flat">
            <a:solidFill>
              <a:srgbClr val="FFFFFF"/>
            </a:solidFill>
            <a:prstDash val="solid"/>
            <a:round/>
          </a:ln>
          <a:effectLst/>
        </p:spPr>
      </p:cxnSp>
      <p:cxnSp>
        <p:nvCxnSpPr>
          <p:cNvPr id="31" name="officeArt object">
            <a:extLst>
              <a:ext uri="{FF2B5EF4-FFF2-40B4-BE49-F238E27FC236}">
                <a16:creationId xmlns:a16="http://schemas.microsoft.com/office/drawing/2014/main" id="{CDD4F2B0-E437-6F81-4669-CAA80E46A879}"/>
              </a:ext>
            </a:extLst>
          </p:cNvPr>
          <p:cNvCxnSpPr/>
          <p:nvPr/>
        </p:nvCxnSpPr>
        <p:spPr>
          <a:xfrm>
            <a:off x="6539268" y="420642"/>
            <a:ext cx="635" cy="409575"/>
          </a:xfrm>
          <a:prstGeom prst="line">
            <a:avLst/>
          </a:prstGeom>
          <a:noFill/>
          <a:ln w="25400" cap="flat">
            <a:solidFill>
              <a:srgbClr val="FFFFFF"/>
            </a:solidFill>
            <a:prstDash val="solid"/>
            <a:round/>
          </a:ln>
          <a:effectLst/>
        </p:spPr>
      </p:cxnSp>
      <p:cxnSp>
        <p:nvCxnSpPr>
          <p:cNvPr id="32" name="officeArt object">
            <a:extLst>
              <a:ext uri="{FF2B5EF4-FFF2-40B4-BE49-F238E27FC236}">
                <a16:creationId xmlns:a16="http://schemas.microsoft.com/office/drawing/2014/main" id="{E3D3D0DE-9B6F-7508-9FB3-6C35DF8AA605}"/>
              </a:ext>
            </a:extLst>
          </p:cNvPr>
          <p:cNvCxnSpPr/>
          <p:nvPr/>
        </p:nvCxnSpPr>
        <p:spPr>
          <a:xfrm>
            <a:off x="6634518" y="430167"/>
            <a:ext cx="635" cy="390525"/>
          </a:xfrm>
          <a:prstGeom prst="line">
            <a:avLst/>
          </a:prstGeom>
          <a:noFill/>
          <a:ln w="15875" cap="flat">
            <a:solidFill>
              <a:srgbClr val="FFFFFF"/>
            </a:solidFill>
            <a:prstDash val="solid"/>
            <a:round/>
          </a:ln>
          <a:effectLst/>
        </p:spPr>
      </p:cxnSp>
      <p:cxnSp>
        <p:nvCxnSpPr>
          <p:cNvPr id="33" name="officeArt object">
            <a:extLst>
              <a:ext uri="{FF2B5EF4-FFF2-40B4-BE49-F238E27FC236}">
                <a16:creationId xmlns:a16="http://schemas.microsoft.com/office/drawing/2014/main" id="{59E3ED15-A1FD-B119-AB56-C99AF5E8793C}"/>
              </a:ext>
            </a:extLst>
          </p:cNvPr>
          <p:cNvCxnSpPr/>
          <p:nvPr/>
        </p:nvCxnSpPr>
        <p:spPr>
          <a:xfrm>
            <a:off x="6729768" y="421277"/>
            <a:ext cx="0" cy="390525"/>
          </a:xfrm>
          <a:prstGeom prst="line">
            <a:avLst/>
          </a:prstGeom>
          <a:noFill/>
          <a:ln w="9525" cap="flat">
            <a:solidFill>
              <a:srgbClr val="548DD4"/>
            </a:solidFill>
            <a:prstDash val="solid"/>
            <a:round/>
          </a:ln>
          <a:effectLst/>
        </p:spPr>
      </p:cxnSp>
      <p:sp>
        <p:nvSpPr>
          <p:cNvPr id="34" name="Rectangle 7">
            <a:extLst>
              <a:ext uri="{FF2B5EF4-FFF2-40B4-BE49-F238E27FC236}">
                <a16:creationId xmlns:a16="http://schemas.microsoft.com/office/drawing/2014/main" id="{640E5FBD-09B2-BAD1-BD6E-ADF563A42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5224" y="68852"/>
            <a:ext cx="482782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D66C4410-88C7-70F2-A26E-2FD34D631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933" y="-167482"/>
            <a:ext cx="3513977" cy="175432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Swati Saha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/>
                <a:ea typeface="Calibri"/>
                <a:cs typeface="Times New Roman"/>
              </a:rPr>
              <a:t>Solution Architect – Open Banking</a:t>
            </a:r>
            <a:r>
              <a:rPr lang="en-US" altLang="en-US" sz="1600" b="1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 |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/>
                <a:ea typeface="Calibri"/>
                <a:cs typeface="Times New Roman"/>
              </a:rPr>
              <a:t>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/>
                <a:ea typeface="Calibri"/>
                <a:cs typeface="Times New Roman"/>
              </a:rPr>
              <a:t>Digital </a:t>
            </a:r>
            <a:r>
              <a:rPr lang="en-US" altLang="en-US" sz="16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Banking | Embedded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/>
                <a:ea typeface="Calibri"/>
                <a:cs typeface="Times New Roman"/>
              </a:rPr>
              <a:t> Finance</a:t>
            </a:r>
            <a:r>
              <a:rPr lang="en-US" altLang="en-US" sz="16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  </a:t>
            </a:r>
            <a:r>
              <a:rPr lang="en-US" altLang="en-US" sz="1600" b="1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Generative AI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E-Mail: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swati.saha@tcs.com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Phone: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+91-9836337162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Kolkata, India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22941574-1D6F-62B2-32DE-FCD5D0F95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214" y="62807"/>
            <a:ext cx="1607124" cy="144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33502"/>
      </p:ext>
    </p:extLst>
  </p:cSld>
  <p:clrMapOvr>
    <a:masterClrMapping/>
  </p:clrMapOvr>
</p:sld>
</file>

<file path=ppt/theme/theme1.xml><?xml version="1.0" encoding="utf-8"?>
<a:theme xmlns:a="http://schemas.openxmlformats.org/drawingml/2006/main" name="4_Content Slides">
  <a:themeElements>
    <a:clrScheme name="TCS New Color Palette">
      <a:dk1>
        <a:sysClr val="windowText" lastClr="000000"/>
      </a:dk1>
      <a:lt1>
        <a:sysClr val="window" lastClr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White">
      <a:srgbClr val="F4F3F9"/>
    </a:custClr>
    <a:custClr name="TCS Black">
      <a:srgbClr val="1E2323"/>
    </a:custClr>
    <a:custClr name="TCS Pink">
      <a:srgbClr val="F03782"/>
    </a:custClr>
    <a:custClr name="TCS Green 1">
      <a:srgbClr val="00ACAC"/>
    </a:custClr>
    <a:custClr name="TCS Green 2">
      <a:srgbClr val="1ACFCF"/>
    </a:custClr>
    <a:custClr name="TCS Green 3">
      <a:srgbClr val="64E6E1"/>
    </a:custClr>
    <a:custClr name="TCS Green 4">
      <a:srgbClr val="83EBE7"/>
    </a:custClr>
    <a:custClr name="TCS Green 5">
      <a:srgbClr val="A2F0ED"/>
    </a:custClr>
    <a:custClr name="TCS Green 6">
      <a:srgbClr val="C1F5F3"/>
    </a:custClr>
    <a:custClr name="TCS Blue 1">
      <a:srgbClr val="154B8C"/>
    </a:custClr>
    <a:custClr name="TCS Blue 2">
      <a:srgbClr val="005B9C"/>
    </a:custClr>
    <a:custClr name="TCS Blue 3">
      <a:srgbClr val="007DC5"/>
    </a:custClr>
    <a:custClr name="TCS Blue 4">
      <a:srgbClr val="47A3EB"/>
    </a:custClr>
    <a:custClr name="TCS Blue 5">
      <a:srgbClr val="75BAF0"/>
    </a:custClr>
    <a:custClr name="TCS Blue 6">
      <a:srgbClr val="A3D1F5"/>
    </a:custClr>
    <a:custClr name="TCS Purple 1">
      <a:srgbClr val="4D0092"/>
    </a:custClr>
    <a:custClr name="TCS Purple 2">
      <a:srgbClr val="4D129E"/>
    </a:custClr>
    <a:custClr name="TCS Purple 3">
      <a:srgbClr val="4D2F9E"/>
    </a:custClr>
    <a:custClr name="TCS Purple 4">
      <a:srgbClr val="7159B1"/>
    </a:custClr>
    <a:custClr name="TCS Purple 5">
      <a:srgbClr val="9482C5"/>
    </a:custClr>
    <a:custClr name="TCS Purple 6">
      <a:srgbClr val="B8ACD8"/>
    </a:custClr>
    <a:custClr name="TCS Magenta 1">
      <a:srgbClr val="8F0035"/>
    </a:custClr>
    <a:custClr name="TCS Magenta 2">
      <a:srgbClr val="A30046"/>
    </a:custClr>
    <a:custClr name="TCS Magenta 3">
      <a:srgbClr val="BE0046"/>
    </a:custClr>
    <a:custClr name="TCS Magenta 4">
      <a:srgbClr val="CB336B"/>
    </a:custClr>
    <a:custClr name="TCS Magenta 5">
      <a:srgbClr val="D86690"/>
    </a:custClr>
    <a:custClr name="TCS Magenta 6">
      <a:srgbClr val="E599B5"/>
    </a:custClr>
    <a:custClr name="TCS Orange 1">
      <a:srgbClr val="B03C00"/>
    </a:custClr>
    <a:custClr name="TCS Orange 2">
      <a:srgbClr val="CD5000"/>
    </a:custClr>
    <a:custClr name="TCS Orange 3">
      <a:srgbClr val="EB5000"/>
    </a:custClr>
    <a:custClr name="TCS Orange 4">
      <a:srgbClr val="EF7333"/>
    </a:custClr>
    <a:custClr name="TCS Orange 5">
      <a:srgbClr val="F39666"/>
    </a:custClr>
    <a:custClr name="TCS Orange 6">
      <a:srgbClr val="F7B999"/>
    </a:custClr>
    <a:custClr name="TCS Yellow 1">
      <a:srgbClr val="FFBC00"/>
    </a:custClr>
    <a:custClr name="TCS Yellow 2">
      <a:srgbClr val="FFD300"/>
    </a:custClr>
    <a:custClr name="TCS Yellow 3">
      <a:srgbClr val="FFE600"/>
    </a:custClr>
    <a:custClr name="TCS Yellow 4">
      <a:srgbClr val="FFEB33"/>
    </a:custClr>
    <a:custClr name="TCS Yellow 5">
      <a:srgbClr val="FFF066"/>
    </a:custClr>
    <a:custClr name="TCS Yellow 6">
      <a:srgbClr val="FFF599"/>
    </a:custClr>
  </a:custClrLst>
  <a:extLst>
    <a:ext uri="{05A4C25C-085E-4340-85A3-A5531E510DB2}">
      <thm15:themeFamily xmlns:thm15="http://schemas.microsoft.com/office/thememl/2012/main" name="TCS Building on belief PPT template" id="{DDDA585A-DC68-4F4F-89CC-C3A7FEEEEAA5}" vid="{088422CC-BB39-473A-8192-AA507A799B38}"/>
    </a:ext>
  </a:extLst>
</a:theme>
</file>

<file path=ppt/theme/theme2.xml><?xml version="1.0" encoding="utf-8"?>
<a:theme xmlns:a="http://schemas.openxmlformats.org/drawingml/2006/main" name="Content Slide_Whit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41165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E4116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Standard PPT Template_16 x 9_v6" id="{60A21E0E-17E5-9346-8A61-E9A326A4B72F}" vid="{D715BD87-8E3F-D349-B1CD-E81283C2A50B}"/>
    </a:ext>
  </a:extLst>
</a:theme>
</file>

<file path=ppt/theme/theme3.xml><?xml version="1.0" encoding="utf-8"?>
<a:theme xmlns:a="http://schemas.openxmlformats.org/drawingml/2006/main" name="1_EY widescreen presentation 2015 v1">
  <a:themeElements>
    <a:clrScheme name="Walgreens">
      <a:dk1>
        <a:srgbClr val="747480"/>
      </a:dk1>
      <a:lt1>
        <a:srgbClr val="FFFFFF"/>
      </a:lt1>
      <a:dk2>
        <a:srgbClr val="2E2E38"/>
      </a:dk2>
      <a:lt2>
        <a:srgbClr val="FFFFFF"/>
      </a:lt2>
      <a:accent1>
        <a:srgbClr val="FFE600"/>
      </a:accent1>
      <a:accent2>
        <a:srgbClr val="6CF2BC"/>
      </a:accent2>
      <a:accent3>
        <a:srgbClr val="8CDCF2"/>
      </a:accent3>
      <a:accent4>
        <a:srgbClr val="E53214"/>
      </a:accent4>
      <a:accent5>
        <a:srgbClr val="323264"/>
      </a:accent5>
      <a:accent6>
        <a:srgbClr val="14E532"/>
      </a:accent6>
      <a:hlink>
        <a:srgbClr val="000000"/>
      </a:hlink>
      <a:folHlink>
        <a:srgbClr val="80808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>
        <a:noAutofit/>
      </a:bodyPr>
      <a:lstStyle>
        <a:defPPr marL="356616" indent="-356616" algn="l">
          <a:lnSpc>
            <a:spcPct val="85000"/>
          </a:lnSpc>
          <a:spcAft>
            <a:spcPts val="600"/>
          </a:spcAft>
          <a:buClr>
            <a:srgbClr val="323264"/>
          </a:buClr>
          <a:buSzPct val="100000"/>
          <a:buFont typeface="Arial" panose="020B0604020202020204" pitchFamily="34" charset="0"/>
          <a:buChar char="•"/>
          <a:defRPr sz="2800" dirty="0" err="1" smtClean="0">
            <a:solidFill>
              <a:srgbClr val="323264"/>
            </a:solidFill>
            <a:latin typeface="Montserrat Light" panose="00000400000000000000" pitchFamily="2" charset="0"/>
          </a:defRPr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4264ACD88CEE46A79A7AA098923F73" ma:contentTypeVersion="13" ma:contentTypeDescription="Create a new document." ma:contentTypeScope="" ma:versionID="c95df6e65229ed0df61201efb4c08f1f">
  <xsd:schema xmlns:xsd="http://www.w3.org/2001/XMLSchema" xmlns:xs="http://www.w3.org/2001/XMLSchema" xmlns:p="http://schemas.microsoft.com/office/2006/metadata/properties" xmlns:ns2="31647188-244e-4544-b518-e3b0c40ca835" xmlns:ns3="eac98e66-07cb-48e5-8b14-8ff97a50b548" targetNamespace="http://schemas.microsoft.com/office/2006/metadata/properties" ma:root="true" ma:fieldsID="b1ef8740abee27bbad307dde688eafae" ns2:_="" ns3:_="">
    <xsd:import namespace="31647188-244e-4544-b518-e3b0c40ca835"/>
    <xsd:import namespace="eac98e66-07cb-48e5-8b14-8ff97a50b5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47188-244e-4544-b518-e3b0c40ca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66b93a-4635-4247-88ec-09744cab27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98e66-07cb-48e5-8b14-8ff97a50b54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00bf76a4-3279-426c-b329-c0b50dbb28bb}" ma:internalName="TaxCatchAll" ma:showField="CatchAllData" ma:web="eac98e66-07cb-48e5-8b14-8ff97a50b5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1647188-244e-4544-b518-e3b0c40ca835">
      <Terms xmlns="http://schemas.microsoft.com/office/infopath/2007/PartnerControls"/>
    </lcf76f155ced4ddcb4097134ff3c332f>
    <TaxCatchAll xmlns="eac98e66-07cb-48e5-8b14-8ff97a50b548" xsi:nil="true"/>
    <SharedWithUsers xmlns="eac98e66-07cb-48e5-8b14-8ff97a50b548">
      <UserInfo>
        <DisplayName>Pavitra Balasubramanian</DisplayName>
        <AccountId>63</AccountId>
        <AccountType/>
      </UserInfo>
      <UserInfo>
        <DisplayName>Janani V</DisplayName>
        <AccountId>71</AccountId>
        <AccountType/>
      </UserInfo>
      <UserInfo>
        <DisplayName>Sakshi Tiku</DisplayName>
        <AccountId>70</AccountId>
        <AccountType/>
      </UserInfo>
      <UserInfo>
        <DisplayName>Rahul Sethi</DisplayName>
        <AccountId>9</AccountId>
        <AccountType/>
      </UserInfo>
      <UserInfo>
        <DisplayName>Amit Mathur</DisplayName>
        <AccountId>13</AccountId>
        <AccountType/>
      </UserInfo>
      <UserInfo>
        <DisplayName>Senthilnathan Shanmugam</DisplayName>
        <AccountId>62</AccountId>
        <AccountType/>
      </UserInfo>
      <UserInfo>
        <DisplayName>Ganesh Paulraj</DisplayName>
        <AccountId>65</AccountId>
        <AccountType/>
      </UserInfo>
      <UserInfo>
        <DisplayName>Merven Thomas</DisplayName>
        <AccountId>14</AccountId>
        <AccountType/>
      </UserInfo>
      <UserInfo>
        <DisplayName>Pradip Nandi</DisplayName>
        <AccountId>18</AccountId>
        <AccountType/>
      </UserInfo>
      <UserInfo>
        <DisplayName>Amit Bhatnagar</DisplayName>
        <AccountId>12</AccountId>
        <AccountType/>
      </UserInfo>
      <UserInfo>
        <DisplayName>RAKESH A</DisplayName>
        <AccountId>24</AccountId>
        <AccountType/>
      </UserInfo>
      <UserInfo>
        <DisplayName>Prashant Yawalkar</DisplayName>
        <AccountId>66</AccountId>
        <AccountType/>
      </UserInfo>
      <UserInfo>
        <DisplayName>SMRUTI RANJAN  SAHOO</DisplayName>
        <AccountId>28</AccountId>
        <AccountType/>
      </UserInfo>
      <UserInfo>
        <DisplayName>Karpaga Rajendran</DisplayName>
        <AccountId>36</AccountId>
        <AccountType/>
      </UserInfo>
      <UserInfo>
        <DisplayName>Balaji Krishna Arige</DisplayName>
        <AccountId>20</AccountId>
        <AccountType/>
      </UserInfo>
      <UserInfo>
        <DisplayName>Nitin Mathur</DisplayName>
        <AccountId>159</AccountId>
        <AccountType/>
      </UserInfo>
      <UserInfo>
        <DisplayName>Rajesh Gore</DisplayName>
        <AccountId>37</AccountId>
        <AccountType/>
      </UserInfo>
      <UserInfo>
        <DisplayName>Nimish Parikh</DisplayName>
        <AccountId>113</AccountId>
        <AccountType/>
      </UserInfo>
      <UserInfo>
        <DisplayName>Anil Kumar Dichpalli</DisplayName>
        <AccountId>58</AccountId>
        <AccountType/>
      </UserInfo>
      <UserInfo>
        <DisplayName>Sneha De</DisplayName>
        <AccountId>34</AccountId>
        <AccountType/>
      </UserInfo>
      <UserInfo>
        <DisplayName>Aravinth Ramaraj</DisplayName>
        <AccountId>31</AccountId>
        <AccountType/>
      </UserInfo>
      <UserInfo>
        <DisplayName>Ravi Shankar</DisplayName>
        <AccountId>51</AccountId>
        <AccountType/>
      </UserInfo>
      <UserInfo>
        <DisplayName>Vivek Agrawal</DisplayName>
        <AccountId>61</AccountId>
        <AccountType/>
      </UserInfo>
      <UserInfo>
        <DisplayName>Guna Karthikeya</DisplayName>
        <AccountId>30</AccountId>
        <AccountType/>
      </UserInfo>
      <UserInfo>
        <DisplayName>Yogesh Yadav</DisplayName>
        <AccountId>60</AccountId>
        <AccountType/>
      </UserInfo>
      <UserInfo>
        <DisplayName>Panneerselvam Ramarajan</DisplayName>
        <AccountId>32</AccountId>
        <AccountType/>
      </UserInfo>
      <UserInfo>
        <DisplayName>Prashant  Warrier</DisplayName>
        <AccountId>78</AccountId>
        <AccountType/>
      </UserInfo>
      <UserInfo>
        <DisplayName>Prashant Tekam</DisplayName>
        <AccountId>55</AccountId>
        <AccountType/>
      </UserInfo>
      <UserInfo>
        <DisplayName>Nikhil Kumar</DisplayName>
        <AccountId>47</AccountId>
        <AccountType/>
      </UserInfo>
      <UserInfo>
        <DisplayName>SEETHALAKSHMI SWAMINATHAN</DisplayName>
        <AccountId>26</AccountId>
        <AccountType/>
      </UserInfo>
      <UserInfo>
        <DisplayName>GOKULAKRISHNAN RAJAGOPALAN</DisplayName>
        <AccountId>160</AccountId>
        <AccountType/>
      </UserInfo>
      <UserInfo>
        <DisplayName>Ashish Rout</DisplayName>
        <AccountId>38</AccountId>
        <AccountType/>
      </UserInfo>
      <UserInfo>
        <DisplayName>Abhishek Jakhanwal</DisplayName>
        <AccountId>46</AccountId>
        <AccountType/>
      </UserInfo>
      <UserInfo>
        <DisplayName>Chetan Surti</DisplayName>
        <AccountId>35</AccountId>
        <AccountType/>
      </UserInfo>
      <UserInfo>
        <DisplayName>Rizvi Mohideen</DisplayName>
        <AccountId>50</AccountId>
        <AccountType/>
      </UserInfo>
      <UserInfo>
        <DisplayName>NAVNEET SHARMA</DisplayName>
        <AccountId>48</AccountId>
        <AccountType/>
      </UserInfo>
      <UserInfo>
        <DisplayName>Venkatraman M V</DisplayName>
        <AccountId>118</AccountId>
        <AccountType/>
      </UserInfo>
      <UserInfo>
        <DisplayName>Supriya Nair</DisplayName>
        <AccountId>148</AccountId>
        <AccountType/>
      </UserInfo>
      <UserInfo>
        <DisplayName>Sayantan Sar</DisplayName>
        <AccountId>161</AccountId>
        <AccountType/>
      </UserInfo>
      <UserInfo>
        <DisplayName>SAMIR KUMAR</DisplayName>
        <AccountId>92</AccountId>
        <AccountType/>
      </UserInfo>
      <UserInfo>
        <DisplayName>PARTHIBAN MATHI</DisplayName>
        <AccountId>106</AccountId>
        <AccountType/>
      </UserInfo>
      <UserInfo>
        <DisplayName>Nilesh Belekar</DisplayName>
        <AccountId>162</AccountId>
        <AccountType/>
      </UserInfo>
      <UserInfo>
        <DisplayName>Kotteeswaran Lakshmanan</DisplayName>
        <AccountId>107</AccountId>
        <AccountType/>
      </UserInfo>
      <UserInfo>
        <DisplayName>Karthick Meenachisundaram</DisplayName>
        <AccountId>121</AccountId>
        <AccountType/>
      </UserInfo>
      <UserInfo>
        <DisplayName>Kapil Kharbanda</DisplayName>
        <AccountId>111</AccountId>
        <AccountType/>
      </UserInfo>
      <UserInfo>
        <DisplayName>Chinmoya Patnaik</DisplayName>
        <AccountId>93</AccountId>
        <AccountType/>
      </UserInfo>
      <UserInfo>
        <DisplayName>Ankit Gupta</DisplayName>
        <AccountId>112</AccountId>
        <AccountType/>
      </UserInfo>
      <UserInfo>
        <DisplayName>ANKIT BADKUR</DisplayName>
        <AccountId>126</AccountId>
        <AccountType/>
      </UserInfo>
      <UserInfo>
        <DisplayName>SHIVKUMAR VENDRA</DisplayName>
        <AccountId>144</AccountId>
        <AccountType/>
      </UserInfo>
      <UserInfo>
        <DisplayName>MANISH VERMA</DisplayName>
        <AccountId>163</AccountId>
        <AccountType/>
      </UserInfo>
      <UserInfo>
        <DisplayName>Devendra Gupta</DisplayName>
        <AccountId>123</AccountId>
        <AccountType/>
      </UserInfo>
      <UserInfo>
        <DisplayName>Saugata Mazumder</DisplayName>
        <AccountId>115</AccountId>
        <AccountType/>
      </UserInfo>
      <UserInfo>
        <DisplayName>Krishan Arora</DisplayName>
        <AccountId>96</AccountId>
        <AccountType/>
      </UserInfo>
      <UserInfo>
        <DisplayName>Manohara Bandarapu</DisplayName>
        <AccountId>82</AccountId>
        <AccountType/>
      </UserInfo>
      <UserInfo>
        <DisplayName>Karthick Sivakumar</DisplayName>
        <AccountId>81</AccountId>
        <AccountType/>
      </UserInfo>
      <UserInfo>
        <DisplayName>Anirban Guha</DisplayName>
        <AccountId>116</AccountId>
        <AccountType/>
      </UserInfo>
      <UserInfo>
        <DisplayName>Yang (Vivian) Wang</DisplayName>
        <AccountId>64</AccountId>
        <AccountType/>
      </UserInfo>
      <UserInfo>
        <DisplayName>NITYA VIJAY</DisplayName>
        <AccountId>80</AccountId>
        <AccountType/>
      </UserInfo>
      <UserInfo>
        <DisplayName>Amanpreet Kaur</DisplayName>
        <AccountId>84</AccountId>
        <AccountType/>
      </UserInfo>
      <UserInfo>
        <DisplayName>R. BALASUBRAMANIAN</DisplayName>
        <AccountId>68</AccountId>
        <AccountType/>
      </UserInfo>
      <UserInfo>
        <DisplayName>Paiel  Samanta</DisplayName>
        <AccountId>73</AccountId>
        <AccountType/>
      </UserInfo>
      <UserInfo>
        <DisplayName>OVLN Prasad</DisplayName>
        <AccountId>72</AccountId>
        <AccountType/>
      </UserInfo>
      <UserInfo>
        <DisplayName>Viswanathan Arunachalam</DisplayName>
        <AccountId>77</AccountId>
        <AccountType/>
      </UserInfo>
      <UserInfo>
        <DisplayName>ALAGAPPAN Muthuraman</DisplayName>
        <AccountId>79</AccountId>
        <AccountType/>
      </UserInfo>
      <UserInfo>
        <DisplayName>Alok Vyas</DisplayName>
        <AccountId>90</AccountId>
        <AccountType/>
      </UserInfo>
      <UserInfo>
        <DisplayName>Dhananjay Rao</DisplayName>
        <AccountId>164</AccountId>
        <AccountType/>
      </UserInfo>
      <UserInfo>
        <DisplayName>Shantanu Deoras</DisplayName>
        <AccountId>97</AccountId>
        <AccountType/>
      </UserInfo>
      <UserInfo>
        <DisplayName>RAMACHANDRAN SRINIVASAN</DisplayName>
        <AccountId>99</AccountId>
        <AccountType/>
      </UserInfo>
      <UserInfo>
        <DisplayName>Ganesh Deshpande</DisplayName>
        <AccountId>117</AccountId>
        <AccountType/>
      </UserInfo>
      <UserInfo>
        <DisplayName>Anirban  Majumdar</DisplayName>
        <AccountId>25</AccountId>
        <AccountType/>
      </UserInfo>
      <UserInfo>
        <DisplayName>Soumya Suresh</DisplayName>
        <AccountId>83</AccountId>
        <AccountType/>
      </UserInfo>
      <UserInfo>
        <DisplayName>Arunkumar Rajagopalan</DisplayName>
        <AccountId>110</AccountId>
        <AccountType/>
      </UserInfo>
      <UserInfo>
        <DisplayName>Naga Srinivas  Avula</DisplayName>
        <AccountId>105</AccountId>
        <AccountType/>
      </UserInfo>
      <UserInfo>
        <DisplayName>Bhavna Mukund</DisplayName>
        <AccountId>124</AccountId>
        <AccountType/>
      </UserInfo>
      <UserInfo>
        <DisplayName>Sutirtha Mukherjee</DisplayName>
        <AccountId>88</AccountId>
        <AccountType/>
      </UserInfo>
      <UserInfo>
        <DisplayName>Sathees Sadhanandam</DisplayName>
        <AccountId>165</AccountId>
        <AccountType/>
      </UserInfo>
      <UserInfo>
        <DisplayName>ALKA SHARMA</DisplayName>
        <AccountId>125</AccountId>
        <AccountType/>
      </UserInfo>
      <UserInfo>
        <DisplayName>Kanagaraj Manickam</DisplayName>
        <AccountId>76</AccountId>
        <AccountType/>
      </UserInfo>
      <UserInfo>
        <DisplayName>Praveen Tummala</DisplayName>
        <AccountId>136</AccountId>
        <AccountType/>
      </UserInfo>
      <UserInfo>
        <DisplayName>Vinod Reddy</DisplayName>
        <AccountId>166</AccountId>
        <AccountType/>
      </UserInfo>
      <UserInfo>
        <DisplayName>Desh Mitra</DisplayName>
        <AccountId>128</AccountId>
        <AccountType/>
      </UserInfo>
      <UserInfo>
        <DisplayName>SATISH KAKKALMELI</DisplayName>
        <AccountId>132</AccountId>
        <AccountType/>
      </UserInfo>
      <UserInfo>
        <DisplayName>Ganesan NR</DisplayName>
        <AccountId>167</AccountId>
        <AccountType/>
      </UserInfo>
      <UserInfo>
        <DisplayName>Yashpal Singh</DisplayName>
        <AccountId>127</AccountId>
        <AccountType/>
      </UserInfo>
      <UserInfo>
        <DisplayName>Indranil Sarkar</DisplayName>
        <AccountId>142</AccountId>
        <AccountType/>
      </UserInfo>
      <UserInfo>
        <DisplayName>Sathish Angamuthu</DisplayName>
        <AccountId>131</AccountId>
        <AccountType/>
      </UserInfo>
      <UserInfo>
        <DisplayName>REVATHY MANI</DisplayName>
        <AccountId>130</AccountId>
        <AccountType/>
      </UserInfo>
      <UserInfo>
        <DisplayName>Sourabh Awasthi</DisplayName>
        <AccountId>168</AccountId>
        <AccountType/>
      </UserInfo>
      <UserInfo>
        <DisplayName>Rahul Amin</DisplayName>
        <AccountId>98</AccountId>
        <AccountType/>
      </UserInfo>
      <UserInfo>
        <DisplayName>Bhaskaran P.R.</DisplayName>
        <AccountId>147</AccountId>
        <AccountType/>
      </UserInfo>
      <UserInfo>
        <DisplayName>Veneetha Vijayakumar</DisplayName>
        <AccountId>141</AccountId>
        <AccountType/>
      </UserInfo>
      <UserInfo>
        <DisplayName>Kumaran Radhakrishnan</DisplayName>
        <AccountId>151</AccountId>
        <AccountType/>
      </UserInfo>
      <UserInfo>
        <DisplayName>Mark Depierro</DisplayName>
        <AccountId>169</AccountId>
        <AccountType/>
      </UserInfo>
      <UserInfo>
        <DisplayName>Shusank Parihar</DisplayName>
        <AccountId>143</AccountId>
        <AccountType/>
      </UserInfo>
      <UserInfo>
        <DisplayName>Ranjith Krishnaswamy</DisplayName>
        <AccountId>114</AccountId>
        <AccountType/>
      </UserInfo>
      <UserInfo>
        <DisplayName>Madhu Sudan Vishwakarma</DisplayName>
        <AccountId>153</AccountId>
        <AccountType/>
      </UserInfo>
      <UserInfo>
        <DisplayName>Wayne Eckstein</DisplayName>
        <AccountId>129</AccountId>
        <AccountType/>
      </UserInfo>
      <UserInfo>
        <DisplayName>Jayaprakash K J</DisplayName>
        <AccountId>174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C51F27-7A95-468E-8D8B-F55301A43C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47188-244e-4544-b518-e3b0c40ca835"/>
    <ds:schemaRef ds:uri="eac98e66-07cb-48e5-8b14-8ff97a50b5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761E44-EB64-4C38-AECF-95D93FC304E0}">
  <ds:schemaRefs>
    <ds:schemaRef ds:uri="http://schemas.microsoft.com/office/2006/metadata/properties"/>
    <ds:schemaRef ds:uri="31647188-244e-4544-b518-e3b0c40ca835"/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eac98e66-07cb-48e5-8b14-8ff97a50b548"/>
  </ds:schemaRefs>
</ds:datastoreItem>
</file>

<file path=customXml/itemProps3.xml><?xml version="1.0" encoding="utf-8"?>
<ds:datastoreItem xmlns:ds="http://schemas.openxmlformats.org/officeDocument/2006/customXml" ds:itemID="{F22AA5E8-60CA-4525-877A-B8D0BE9297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322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4_Content Slides</vt:lpstr>
      <vt:lpstr>Content Slide_White</vt:lpstr>
      <vt:lpstr>1_EY widescreen presentation 2015 v1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Sakshi Tiku</dc:creator>
  <cp:lastModifiedBy>Swati Saha</cp:lastModifiedBy>
  <cp:revision>47</cp:revision>
  <dcterms:created xsi:type="dcterms:W3CDTF">2023-08-29T08:25:57Z</dcterms:created>
  <dcterms:modified xsi:type="dcterms:W3CDTF">2025-06-30T07:00:07Z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0x0101003E4264ACD88CEE46A79A7AA098923F73</vt:lpwstr>
  </property>
  <property fmtid="{D5CDD505-2E9C-101B-9397-08002B2CF9AE}" pid="3" name="MediaServiceImageTags">
    <vt:lpwstr/>
  </property>
</Properties>
</file>